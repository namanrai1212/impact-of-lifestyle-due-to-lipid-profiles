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2" r:id="rId2"/>
    <p:sldMasterId id="2147483686" r:id="rId3"/>
  </p:sldMasterIdLst>
  <p:notesMasterIdLst>
    <p:notesMasterId r:id="rId16"/>
  </p:notesMasterIdLst>
  <p:handoutMasterIdLst>
    <p:handoutMasterId r:id="rId17"/>
  </p:handoutMasterIdLst>
  <p:sldIdLst>
    <p:sldId id="277" r:id="rId4"/>
    <p:sldId id="399" r:id="rId5"/>
    <p:sldId id="400" r:id="rId6"/>
    <p:sldId id="401" r:id="rId7"/>
    <p:sldId id="402" r:id="rId8"/>
    <p:sldId id="403" r:id="rId9"/>
    <p:sldId id="408" r:id="rId10"/>
    <p:sldId id="409" r:id="rId11"/>
    <p:sldId id="410" r:id="rId12"/>
    <p:sldId id="414" r:id="rId13"/>
    <p:sldId id="412" r:id="rId14"/>
    <p:sldId id="41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man kumar" initials="S" lastIdx="1" clrIdx="0">
    <p:extLst>
      <p:ext uri="{19B8F6BF-5375-455C-9EA6-DF929625EA0E}">
        <p15:presenceInfo xmlns:p15="http://schemas.microsoft.com/office/powerpoint/2012/main" userId="S::22BIT70027@cuchd.in::89cfdcea-6e82-4db2-b6dc-a0298fbdda2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799" autoAdjust="0"/>
    <p:restoredTop sz="94660" autoAdjust="0"/>
  </p:normalViewPr>
  <p:slideViewPr>
    <p:cSldViewPr snapToGrid="0">
      <p:cViewPr varScale="1">
        <p:scale>
          <a:sx n="82" d="100"/>
          <a:sy n="82" d="100"/>
        </p:scale>
        <p:origin x="11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-3168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6053794"/>
            <a:ext cx="12196420" cy="4391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695892" y="1850059"/>
            <a:ext cx="6829425" cy="2797237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Bradley Hand ITC" panose="03070402050302030203" pitchFamily="66" charset="0"/>
              </a:rPr>
              <a:t>Submitted in the partial fulfillment for the award of the degree of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 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  <a:latin typeface="Bradley Hand ITC" panose="03070402050302030203" pitchFamily="66" charset="0"/>
              </a:rPr>
              <a:t> IN</a:t>
            </a:r>
          </a:p>
          <a:p>
            <a:pPr algn="ctr">
              <a:lnSpc>
                <a:spcPct val="150000"/>
              </a:lnSpc>
            </a:pPr>
            <a:r>
              <a:rPr lang="en-US" sz="2400" i="1" dirty="0">
                <a:solidFill>
                  <a:srgbClr val="000000"/>
                </a:solidFill>
              </a:rPr>
              <a:t>COMPUTER SCIENCE ENGINEERING </a:t>
            </a:r>
            <a:br>
              <a:rPr lang="en-US" sz="2400" i="1" dirty="0">
                <a:solidFill>
                  <a:srgbClr val="000000"/>
                </a:solidFill>
              </a:rPr>
            </a:br>
            <a:r>
              <a:rPr lang="en-US" sz="2400" i="1" dirty="0">
                <a:solidFill>
                  <a:srgbClr val="000000"/>
                </a:solidFill>
              </a:rPr>
              <a:t>specialization in Internet Of Things</a:t>
            </a:r>
          </a:p>
          <a:p>
            <a:pPr algn="ctr">
              <a:lnSpc>
                <a:spcPct val="150000"/>
              </a:lnSpc>
            </a:pPr>
            <a:endParaRPr lang="en-US" sz="2400" i="1" dirty="0">
              <a:solidFill>
                <a:srgbClr val="000000"/>
              </a:solidFill>
            </a:endParaRPr>
          </a:p>
        </p:txBody>
      </p:sp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5780" y="635635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509042" y="6356350"/>
            <a:ext cx="588260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Department of AIT-CSE</a:t>
            </a:r>
            <a:endParaRPr lang="en-US" sz="1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761330" y="175200"/>
            <a:ext cx="837327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3200" b="1" dirty="0">
                <a:latin typeface="Britannic Bold" panose="020B0903060703020204" pitchFamily="34" charset="0"/>
              </a:rPr>
              <a:t>Impact of Lifestyle on Lipid Profiles: A Rural-Urban Analysis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3348" y="5623947"/>
            <a:ext cx="32079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NAMAN RAI (22BIT70058)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82917" y="5244937"/>
            <a:ext cx="34431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 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Abhishek Tiwari (E15792)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676" y="365126"/>
            <a:ext cx="10515600" cy="976206"/>
          </a:xfrm>
        </p:spPr>
        <p:txBody>
          <a:bodyPr/>
          <a:lstStyle/>
          <a:p>
            <a:pPr algn="ctr"/>
            <a:r>
              <a:rPr lang="en-US" b="1" dirty="0">
                <a:latin typeface="Times New Roman"/>
                <a:cs typeface="Times New Roman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220"/>
            <a:ext cx="10515600" cy="495225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Tools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Results: The Rural Paradox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98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3"/>
            <a:ext cx="10515600" cy="94580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129003"/>
            <a:ext cx="8763000" cy="4867937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this research?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investigates the impact of lifestyle and environment on lipid profiles by analyzing the LDL/HDL ratio to compare cardiovascular risk in rural and urban populations in North India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&amp; National Crisis: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diseases (CVDs) are the dominant cause of mortality worldwide, accounting for nearly 19 million deaths annually. 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this epidemic represents a "health-development paradox": modernization has increased life expectancy but also amplified metabolic vulnerability.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LDL/HDL Ratio?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tests look at single lipid fractions (like just LDL).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LDL/HDL ratio is a more powerful, holistic index. It reflects the dynamic equilibrium between pro-atherogenic (LDL) and anti-atherogenic (HDL) forces.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low-cost, robust, and reproducible biomarker, making it ideal for mass screening in resource-limited settings.</a:t>
            </a:r>
          </a:p>
          <a:p>
            <a:pPr marL="457200" lvl="1" indent="0" algn="just">
              <a:buNone/>
            </a:pPr>
            <a:endParaRPr lang="en-US" sz="26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38" name="Picture 14" descr="Hdl Vs Ldl">
            <a:extLst>
              <a:ext uri="{FF2B5EF4-FFF2-40B4-BE49-F238E27FC236}">
                <a16:creationId xmlns:a16="http://schemas.microsoft.com/office/drawing/2014/main" id="{EB9F7BA5-A0DE-AF21-3C98-1EF8399A16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1201" y="2012226"/>
            <a:ext cx="2567940" cy="2833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012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98314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119674"/>
            <a:ext cx="8333791" cy="499408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Unseen Epidemic: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Dyslipidemia (imbalanced lipids) progresses quietly. By the time of a heart attack or stroke, the pathology is often irreversible.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over 4.77 million cardiovascular deaths occur annually, and 52% of those happen before age 70.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“Rural Paradox”: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Assumption: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and "city life" are the primary drivers of heart disease.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Reality: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exposes a counterintuitive trend. Rural populations, traditionally  healthier, are now showing higher atherogenic risk.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this happening?: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Modernization: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Mechanization of agriculture (tractors vs. manual labor), new sedentary behaviors, and traditional diets being replaced by refined carbohydrates and low-cost saturated fats.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Gap: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Modernity arrived in villages without the urban safety nets of routine healthcare, diagnostic screening, and health awareness programs.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059" name="Picture 11" descr="Farmer working in field, lush green rice paddy field in rural India ...">
            <a:extLst>
              <a:ext uri="{FF2B5EF4-FFF2-40B4-BE49-F238E27FC236}">
                <a16:creationId xmlns:a16="http://schemas.microsoft.com/office/drawing/2014/main" id="{2C5A598F-ECAE-7C7C-9CD9-D72240560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409" y="1052285"/>
            <a:ext cx="2511153" cy="228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1" name="Picture 13" descr="Environmental Impact of Traditional Farming: 5 Effects | Eden Green">
            <a:extLst>
              <a:ext uri="{FF2B5EF4-FFF2-40B4-BE49-F238E27FC236}">
                <a16:creationId xmlns:a16="http://schemas.microsoft.com/office/drawing/2014/main" id="{1E537A22-9168-27FE-4881-00A331488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409" y="3523408"/>
            <a:ext cx="2511154" cy="2282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03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2047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026" y="1670179"/>
            <a:ext cx="10087948" cy="3517641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statistically quantify and compare the mean LDL/HDL ratios between representative rural and urban populations in North India.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validate the LDL/HDL ratio as a low-cost, robust, and reproducible biomarker for large-scale cardiovascular risk screening.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investigate the lifestyle, dietary, and socioeconomic drivers (the "Rural Paradox") behind the observed differences in lipid profiles.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compelling, evidence-based recommendations for integrating LDL/HDL ratio screening into national public health programs, such as the NPCDCS.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6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8383"/>
            <a:ext cx="8324461" cy="41812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retrospective cross-sectional study.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4,015 anonymized lipid profile records collected from diagnostic labs.</a:t>
            </a:r>
          </a:p>
          <a:p>
            <a:pPr lvl="1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Cohorts: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(n=2,146):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Delhi and Mohali.</a:t>
            </a:r>
          </a:p>
          <a:p>
            <a:pPr lvl="2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Rural/ Semi-urban (n=1,869):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Patiala and Yamuna Nagar.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aged 20–70 years.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Tools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Statistical Analysis: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Studio (v4.2.1).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Secondary Validation: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3.10 (Pandas, Matplotlib).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 Excel, Tableau, and Power BI for creating policy dashboards.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EC9C76-80AF-6988-C5AE-CDED607BA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072" y="1338383"/>
            <a:ext cx="2743200" cy="367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4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932F-B791-B711-131E-270698CE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F8174-0125-7529-799F-AABFA83CA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9004"/>
            <a:ext cx="10073640" cy="5227346"/>
          </a:xfrm>
        </p:spPr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Curation &amp; Preprocessing: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cleaned to remove duplicates, normalize measurement units, and handle outliers.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Anomalous records (&lt;1%) were removed to create a high-confidence dataset.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Metric Derivation:</a:t>
            </a:r>
          </a:p>
          <a:p>
            <a:pPr lvl="1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Metric: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LDL/HDL Ratio (LDL-C / HDL-C).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Metrics: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Atherogenic Index of Plasma (AIP = log[TG/HDL-C]).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Castelli’s Risk Index-I (CRI-I = TC/HDL-C).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Statistical Analysis: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Studio v4.2.1.</a:t>
            </a:r>
          </a:p>
          <a:p>
            <a:pPr lvl="1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Used: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 (mean, median, SD).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Normality assessed via Shapiro-Wilk test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significance evaluated using a two-proportion Z-test (α = 0.05).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Age-stratified analyses (&lt;40, 40–60, &gt;60 years) were performed.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26B1E-C9A9-D3A9-B061-AF79D2FB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068F8F2-0ED4-8FCC-F0DF-E09029269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0930" y="2245114"/>
            <a:ext cx="2517400" cy="299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0B0F-8075-6B9B-2407-413A824A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9247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2BF0C-D81C-D9D7-BE5A-D3DC38FB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774"/>
            <a:ext cx="10515600" cy="51527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Evolution of Lipid Science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1948 (Framingham Heart Study):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foundation of preventive cardiology. Established the first statistical link between high serum cholesterol and coronary heart disease (CHD).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2004 (INTERHEART Study):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52-country study that quantified global risk. Found that abnormal lipids accounted for 49% of heart attack risk and that South Asia had the youngest mean age for a first heart attack.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2018 (PURE Study):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Revealed that rural populations in low/middle-income nations had higher cardiovascular mortality due to healthcare inequity, shattering simplistic rural-urban dichotomies.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Research Gaps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vast majority of global lipid studies are urban-centric, leaving rural populations underrepresented.</a:t>
            </a:r>
          </a:p>
          <a:p>
            <a:pPr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LDL/HDL ratio is rarely used as a primary, standalone metric for public health screening, despite its simplicity and power.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Project's Contribution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addresses both gaps by focusing on North India's rural population and validating the LDL/HDL ratio as a tool for public health equity.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D87ED-C537-6EFB-25BB-669DF997A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DF903-5040-8909-E9ED-AEBCC4812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21"/>
            <a:ext cx="10515600" cy="98253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Results (The Rural Paradox)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D371A-8614-0383-6B78-EC317F6D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B2BBEF-563B-2A1C-CF6E-DF1020157F4D}"/>
              </a:ext>
            </a:extLst>
          </p:cNvPr>
          <p:cNvSpPr/>
          <p:nvPr/>
        </p:nvSpPr>
        <p:spPr>
          <a:xfrm>
            <a:off x="2093976" y="5202936"/>
            <a:ext cx="3182112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D351C1-7BA0-6E0C-F5A5-1CA2FF36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6438"/>
            <a:ext cx="10515600" cy="506991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findings revealed striking, counterintuitive contrasts with high statistical significance (p &lt;0.001).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Urban Cohort (n = 2,146)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LDL/HDL Ratio: 2.73 ± 0.58 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at High-Risk (&gt;3.5): 5.5% 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Benefited from better healthcare access, routine screening, and greater awareness promoting lifestyle modification.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Rural Cohort (n = 1,869)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LDL/HDL Ratio: 3.52 ± 0.69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at High-Risk (&gt;3.5): 25%</a:t>
            </a:r>
          </a:p>
          <a:p>
            <a:pPr lvl="3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Context: Mechanization of agriculture, sedentary behavior, and shift to refined diets have eroded the traditional cardiometabolic advantage.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</a:t>
            </a:r>
          </a:p>
          <a:p>
            <a:pPr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adults in this study were approximately 4.5 times more likely to have a high-risk LDL/HDL ratio compared to urban adults.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2810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791F5-5FB0-4772-CF18-C6EBF56B5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632B-0FC5-6231-CF98-526DFFFB8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321"/>
            <a:ext cx="10515600" cy="98253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AB66E-01BB-A66B-0A4A-282D5557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69C506-8AB4-2727-E947-AAD351BCE3D6}"/>
              </a:ext>
            </a:extLst>
          </p:cNvPr>
          <p:cNvSpPr/>
          <p:nvPr/>
        </p:nvSpPr>
        <p:spPr>
          <a:xfrm>
            <a:off x="2093976" y="5202936"/>
            <a:ext cx="3182112" cy="521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563074-0E28-8825-FBCC-271996934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6"/>
            <a:ext cx="10515600" cy="5222494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Conclusion: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provides compelling evidence for the "Rural Paradox". India’s rural heart is no longer immune to the metabolic consequences of modernization, exhibiting significantly higher atherogenic risk than urban counterparts.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Achievement: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LDL/HDL ratio is validated as a low-cost, robust, and reproducible biomarker, perfectly suited for cardiovascular risk stratification in resource-limited rural health systems.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Implication: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ratio is a biological indicator of social transition. It should be integrated into the National Program for Prevention and Control of Cancer, Diabetes, Cardiovascular Diseases, and Stroke (NPCDCS) to substantially enhance early detection.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Message: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national progress lies not just in economic development, but in sustaining the physiological harmony between tradition and transformation.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315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1B5F7-38E9-FF4D-B9E9-49FA6898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6112"/>
            <a:ext cx="10515600" cy="960438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3A29-ADB0-B45E-329C-3CAC804E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499" y="1372549"/>
            <a:ext cx="7904584" cy="360351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Longitudinal Study Expansion: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Re-sample the same 4,015-participant cohort over 5 years to track the dynamic changes in lipid behavior and the impact of lifestyle modifications.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Integration (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AIoT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Couple biochemical data with wearable and IoT devices to automate tracking of physical activity, sleep cycles, and heart rate, creating a cyber-physical health ecosystem.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&amp; Predictive Modeling: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Machine Learning (Random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Neural Networks to build a self-learning national risk index that can provide predictive alerts to individuals and public health officials.</a:t>
            </a:r>
          </a:p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Translation: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deploy the analytical dashboard for integration with the Ayushman Bharat Digital Mission (ABDM), turning the research prototype into a national-scale operational tool.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18C7A-9DB4-0CF2-D3D1-834A5D87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9220" name="Picture 4" descr="Everything You Need to Know About IoT | Checkbox Technology">
            <a:extLst>
              <a:ext uri="{FF2B5EF4-FFF2-40B4-BE49-F238E27FC236}">
                <a16:creationId xmlns:a16="http://schemas.microsoft.com/office/drawing/2014/main" id="{0F01C0C1-500F-D772-A243-6196EE980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974" y="843266"/>
            <a:ext cx="2650352" cy="217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Premium Vector | Set of 4 ai icons symbols groups of artificial ...">
            <a:extLst>
              <a:ext uri="{FF2B5EF4-FFF2-40B4-BE49-F238E27FC236}">
                <a16:creationId xmlns:a16="http://schemas.microsoft.com/office/drawing/2014/main" id="{99CCE2F0-9CAE-233D-4F8D-2873570EA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7974" y="3174306"/>
            <a:ext cx="2650352" cy="217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579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5CEA-8297-B7EF-45D2-4DF24E978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6"/>
            <a:ext cx="10515600" cy="100181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038C7-7535-926D-9DEB-6D85D986F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962"/>
            <a:ext cx="10896600" cy="51806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World Health Organization, Global Health Estimates 2023: Deaths by Cause, Age, Sex, by Country and by Region, Geneva, 2024.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ICMR–INDIAB Study, “Prevalence of dyslipidemia in Indian states,” Indian J. Endocrinol.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Metab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28, pp. 200–210, 2024.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Yusuf et al., “Modifiable risk factors, cardiovascular disease, and mortality in 52 countries (INTERHEART),” The Lancet, vol. 364(9438), pp. 937–952, 2014.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S. Yusuf et al., “Prospective Urban and Rural Epidemiological (PURE) study,” Lancet, vol. 391, pp. 1783–1795, 2018.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S. L. Gupta et al., “LDL/HDL ratio as a superior marker for coronary risk stratification in South Asians,” J. Lipid Res., vol. 64, no. 1, pp. 78–89, 2023.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T. Pandey, “Emerging patterns of dyslipidemia in rural North India: An epidemiological transition,” Indian Heart J., vol. 75, pp. 301–309, 2024.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41C06-DA94-FF01-3C9F-0DE66C5E4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42380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7280</TotalTime>
  <Words>1548</Words>
  <Application>Microsoft Office PowerPoint</Application>
  <PresentationFormat>Widescreen</PresentationFormat>
  <Paragraphs>125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Bradley Hand ITC</vt:lpstr>
      <vt:lpstr>Britannic Bold</vt:lpstr>
      <vt:lpstr>Calibri</vt:lpstr>
      <vt:lpstr>Calibri Light</vt:lpstr>
      <vt:lpstr>Casper</vt:lpstr>
      <vt:lpstr>Times New Roman</vt:lpstr>
      <vt:lpstr>1_Office Theme</vt:lpstr>
      <vt:lpstr>2_Office Theme</vt:lpstr>
      <vt:lpstr>Contents Slide Master</vt:lpstr>
      <vt:lpstr>PowerPoint Presentation</vt:lpstr>
      <vt:lpstr>Outline</vt:lpstr>
      <vt:lpstr>Introduction to the Project</vt:lpstr>
      <vt:lpstr>Problem Formulation</vt:lpstr>
      <vt:lpstr>Objectives of the Work</vt:lpstr>
      <vt:lpstr>Dataset and Tools</vt:lpstr>
      <vt:lpstr>Methodology</vt:lpstr>
      <vt:lpstr>Literature Review</vt:lpstr>
      <vt:lpstr>Key Results (The Rural Paradox)</vt:lpstr>
      <vt:lpstr>Conclusion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ONE PIECE</cp:lastModifiedBy>
  <cp:revision>504</cp:revision>
  <dcterms:created xsi:type="dcterms:W3CDTF">2019-01-09T10:33:58Z</dcterms:created>
  <dcterms:modified xsi:type="dcterms:W3CDTF">2025-11-10T20:48:19Z</dcterms:modified>
</cp:coreProperties>
</file>